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050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0">
            <a:off x="-822960" y="4572000"/>
            <a:ext cx="411480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 rot="-1200000">
            <a:off x="-1005840" y="4892040"/>
            <a:ext cx="4114800" cy="914400"/>
          </a:xfrm>
          <a:prstGeom prst="rect">
            <a:avLst/>
          </a:prstGeom>
          <a:solidFill>
            <a:srgbClr val="D1272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85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INNOMATICS RESEARCH LABS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10515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5A5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INNOVATION  •  AUTOMATION  •  ANALYTICS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0" y="1783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21031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E-commerce Sales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Analytics System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0" y="3337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Segmentation  •  Revenue Trends  •  Return &amp; Payment Analytics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434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Presented by:  SAKSHITH GANGI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About Me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Background: </a:t>
            </a:r>
            <a:r>
              <a:rPr lang="en-US" sz="130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Computer Science and Engineering graduate specializing in Data Science.
</a:t>
            </a:r>
            <a:r>
              <a:rPr lang="en-US" sz="1300" b="1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Data Science: </a:t>
            </a:r>
            <a:r>
              <a:rPr lang="en-US" sz="130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enjoy programming, but I realized I was more interested in understanding data and solving analytical problems than building full-stack applications. Data Science allows me to combine programming, statistics, and business understanding, which matches my interests and strengths.
</a:t>
            </a:r>
            <a:r>
              <a:rPr lang="en-US" sz="1300" b="1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LinkedIn: </a:t>
            </a:r>
            <a:r>
              <a:rPr lang="en-US" sz="1300" dirty="0">
                <a:solidFill>
                  <a:srgbClr val="1155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linkedin.com/in/sakshith-gangi-699815258
</a:t>
            </a:r>
            <a:r>
              <a:rPr lang="en-US" sz="1300" b="1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GitHub: </a:t>
            </a:r>
            <a:r>
              <a:rPr lang="en-US" sz="1300" dirty="0">
                <a:solidFill>
                  <a:srgbClr val="1155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github.com/sakshithyadav</a:t>
            </a:r>
            <a:endParaRPr lang="en-US" sz="1300" dirty="0"/>
          </a:p>
        </p:txBody>
      </p:sp>
      <p:pic>
        <p:nvPicPr>
          <p:cNvPr id="4" name="Image 0" descr="asse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828032"/>
            <a:ext cx="1417320" cy="2532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" y="48280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Agenda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rgbClr val="D127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0515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Objective of the Project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73352"/>
            <a:ext cx="384048" cy="384048"/>
          </a:xfrm>
          <a:prstGeom prst="ellipse">
            <a:avLst/>
          </a:prstGeom>
          <a:solidFill>
            <a:srgbClr val="D127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73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67335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Analysis Questions (Use Cases)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95144"/>
            <a:ext cx="384048" cy="384048"/>
          </a:xfrm>
          <a:prstGeom prst="ellipse">
            <a:avLst/>
          </a:prstGeom>
          <a:solidFill>
            <a:srgbClr val="D127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95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29514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 (Key Findings Overall)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16936"/>
            <a:ext cx="384048" cy="384048"/>
          </a:xfrm>
          <a:prstGeom prst="ellipse">
            <a:avLst/>
          </a:prstGeom>
          <a:solidFill>
            <a:srgbClr val="D127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16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91693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Q&amp;A Slide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38728"/>
            <a:ext cx="384048" cy="384048"/>
          </a:xfrm>
          <a:prstGeom prst="ellipse">
            <a:avLst/>
          </a:prstGeom>
          <a:solidFill>
            <a:srgbClr val="D1272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538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53872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Challenges Faced / Key Learnings</a:t>
            </a:r>
            <a:endParaRPr lang="en-US" sz="1400" dirty="0"/>
          </a:p>
        </p:txBody>
      </p:sp>
      <p:pic>
        <p:nvPicPr>
          <p:cNvPr id="18" name="Image 0" descr="asse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828032"/>
            <a:ext cx="1417320" cy="25328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7160" y="48280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Objective of the Project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1051560"/>
            <a:ext cx="8412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the E-commerce Sales Analytics database to uncover actionable insights regarding customer value, revenue trends, product performance, and operational risk.</a:t>
            </a:r>
            <a:endParaRPr lang="en-US" sz="1350" dirty="0"/>
          </a:p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Execute complex multi-table SQL queries — joins, window functions, and conditional aggregation — across 7 interconnected tables (customers, suppliers, products, orders, order_items, payments, returns).</a:t>
            </a:r>
            <a:endParaRPr lang="en-US" sz="1350" dirty="0"/>
          </a:p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customer segmentation, revenue growth, and return / payment failure patterns to support marketing, inventory, and checkout-optimization decisions.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65760" y="3977640"/>
            <a:ext cx="8412480" cy="548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Keywords:  </a:t>
            </a:r>
            <a:r>
              <a:rPr lang="en-US" sz="105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Segmentation  •  Revenue Trend Analysis  •  Return Rate  •  Payment Failure Analysis  •  Window Functions</a:t>
            </a:r>
            <a:endParaRPr lang="en-US" sz="1050" dirty="0"/>
          </a:p>
        </p:txBody>
      </p:sp>
      <p:pic>
        <p:nvPicPr>
          <p:cNvPr id="6" name="Image 0" descr="asse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828032"/>
            <a:ext cx="1417320" cy="2532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" y="48280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 Diagram</a:t>
            </a:r>
            <a:endParaRPr lang="en-US" sz="2000" dirty="0"/>
          </a:p>
        </p:txBody>
      </p:sp>
      <p:pic>
        <p:nvPicPr>
          <p:cNvPr id="3" name="Image 0" descr="assets/e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75944"/>
            <a:ext cx="8412480" cy="2286000"/>
          </a:xfrm>
          <a:prstGeom prst="rect">
            <a:avLst/>
          </a:prstGeom>
        </p:spPr>
      </p:pic>
      <p:pic>
        <p:nvPicPr>
          <p:cNvPr id="4" name="Image 1" descr="assets/innomatic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4828032"/>
            <a:ext cx="1417320" cy="25328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7160" y="48280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Schema Architecture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56616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Table</a:t>
                      </a:r>
                      <a:endParaRPr lang="en-US" sz="10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27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Columns</a:t>
                      </a:r>
                      <a:endParaRPr lang="en-US" sz="10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27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Relationships</a:t>
                      </a:r>
                      <a:endParaRPr lang="en-US" sz="10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27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customers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customer_id (PK), name, email, phone, city, state, signup_date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1-to-M with Orders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suppliers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supplier_id (PK), supplier_name, city, state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1-to-M with Products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products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product_id (PK), product_name, category, price, cost, supplier_id (FK)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M-to-1 Suppliers; 1-to-M Order_Items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orders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order_id (PK), customer_id (FK), order_date, order_status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M-to-1 Customers; 1-to-M Items; 1-to-1 Payments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order_items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order_item_id (PK), order_id (FK), product_id (FK), quantity, unit_price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M-to-1 Orders &amp; Products; 1-to-M Returns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payments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payment_id (PK), order_id (FK, unique), method, status, amount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1-to-1 with Orders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returns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return_id (PK), order_item_id (FK), return_date, reason, refund_amount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M-to-1 with Order_Items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Image 0" descr="asse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828032"/>
            <a:ext cx="1417320" cy="25328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7160" y="48280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Analysis Questions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5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Customer, Revenue, Product &amp; Risk Analysis  —  Business Question → SQL Technique Used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revenue growing or declining month over month?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63640" y="1234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Window function — LAG()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customers are VIP, regular, or at risk of churn?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63640" y="1737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CASE segmentation + DATEDIFF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2402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are the top 3 products per category by revenue?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63640" y="2240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Window function — RANK() / PARTITION BY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743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product categories have the highest return rates?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640" y="2743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LEFT JOIN + conditional aggregation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246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payment methods have the highest failure rates?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3246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Conditional aggregation — CASE / SUM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749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7490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the business get an on-demand monthly sales report?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63640" y="3749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Stored Procedure</a:t>
            </a:r>
            <a:endParaRPr lang="en-US" sz="1000" dirty="0"/>
          </a:p>
        </p:txBody>
      </p:sp>
      <p:pic>
        <p:nvPicPr>
          <p:cNvPr id="22" name="Image 0" descr="asse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828032"/>
            <a:ext cx="1417320" cy="25328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7160" y="48280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0" y="960120"/>
            <a:ext cx="1280160" cy="1280160"/>
          </a:xfrm>
          <a:prstGeom prst="ellipse">
            <a:avLst/>
          </a:prstGeom>
          <a:solidFill>
            <a:srgbClr val="D1272E"/>
          </a:solidFill>
          <a:ln/>
        </p:spPr>
      </p:sp>
      <p:sp>
        <p:nvSpPr>
          <p:cNvPr id="4" name="Text 2"/>
          <p:cNvSpPr/>
          <p:nvPr/>
        </p:nvSpPr>
        <p:spPr>
          <a:xfrm>
            <a:off x="3931920" y="9601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514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&amp; Revenue Analysis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3063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0B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Six business questions, solved with SQL</a:t>
            </a:r>
            <a:endParaRPr lang="en-US" sz="1300" dirty="0"/>
          </a:p>
        </p:txBody>
      </p:sp>
      <p:pic>
        <p:nvPicPr>
          <p:cNvPr id="7" name="Image 0" descr="asse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828032"/>
            <a:ext cx="1417320" cy="2532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" y="48280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Q1. </a:t>
            </a:r>
            <a:r>
              <a:rPr lang="en-US" sz="1500" b="1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revenue growing or declining month over month?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65760" y="34564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Insights: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8600" y="3733566"/>
            <a:ext cx="84124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stayed stable at around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₹5.2–5.7 Cr per month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no clear growth or decline.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changes were small (about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±2–6%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showing consistent performance</a:t>
            </a:r>
            <a:endParaRPr lang="en-US" sz="1050" dirty="0"/>
          </a:p>
        </p:txBody>
      </p:sp>
      <p:pic>
        <p:nvPicPr>
          <p:cNvPr id="8" name="Image 0" descr="asse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828032"/>
            <a:ext cx="1417320" cy="2532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" y="48280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EB9AAB7-2B75-4931-AC55-438BA5887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827" y="1330229"/>
            <a:ext cx="3749040" cy="16325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A69FCF3-0AC3-498B-88A6-187CE9B863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5207" y="1156881"/>
            <a:ext cx="3695700" cy="18847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CD3D57B-8CFC-4F8A-8B90-330E3B6276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682986"/>
            <a:ext cx="420624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Q2. </a:t>
            </a:r>
            <a:r>
              <a:rPr lang="en-US" sz="1500" b="1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customers are VIP, regular, or at risk of churn?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89560" y="4002405"/>
            <a:ext cx="11353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Insights: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36220" y="4229100"/>
            <a:ext cx="8412480" cy="597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050" b="1" dirty="0">
                <a:latin typeface="Arial" panose="020B0604020202020204" pitchFamily="34" charset="0"/>
              </a:rPr>
              <a:t>Diya kale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</a:t>
            </a:r>
            <a:r>
              <a:rPr lang="en-US" altLang="en-US" sz="1050">
                <a:latin typeface="Arial" panose="020B0604020202020204" pitchFamily="34" charset="0"/>
              </a:rPr>
              <a:t>spent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customer,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₹</a:t>
            </a:r>
            <a:r>
              <a:rPr lang="en-US" altLang="en-US" sz="1050" b="1">
                <a:latin typeface="Arial" panose="020B0604020202020204" pitchFamily="34" charset="0"/>
              </a:rPr>
              <a:t>12.80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spent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16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but no purchase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</a:t>
            </a:r>
            <a:r>
              <a:rPr lang="en-US" altLang="en-US" sz="1050" b="1">
                <a:latin typeface="Arial" panose="020B0604020202020204" pitchFamily="34" charset="0"/>
              </a:rPr>
              <a:t>59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segments were created using simple business rules (spend, orders, and last purchase), making them easy to understand.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high-spending customers are still active, with only a few in the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At-Risk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category. </a:t>
            </a:r>
          </a:p>
        </p:txBody>
      </p:sp>
      <p:pic>
        <p:nvPicPr>
          <p:cNvPr id="8" name="Image 0" descr="asse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828032"/>
            <a:ext cx="1417320" cy="2532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" y="48280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E3B7C4-6E1E-434D-8A81-EDF87DDDE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733115"/>
            <a:ext cx="3406140" cy="32677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7D6CA2-5EFF-4541-BF3E-6E2C526A3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138037"/>
            <a:ext cx="3756660" cy="28674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Q3. </a:t>
            </a:r>
            <a:r>
              <a:rPr lang="en-US" sz="1500" b="1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are the top 3 products per category by revenue?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65760" y="34564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Insights: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3730752"/>
            <a:ext cx="84124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top 3 products in each category have similar revenue, with no single product dominating.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and marketing should be shared across the top products instead of focusing on just 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8 categories have different top-selling products, showing revenue is well distributed across the catalog. </a:t>
            </a:r>
          </a:p>
        </p:txBody>
      </p:sp>
      <p:pic>
        <p:nvPicPr>
          <p:cNvPr id="8" name="Image 0" descr="asse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828032"/>
            <a:ext cx="1417320" cy="2532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" y="48280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0F8595-933A-4A32-99C7-A6E217854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685800"/>
            <a:ext cx="3938258" cy="2651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AEB1E93-AEF1-4C9E-BD4C-A6E1F6FEC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8464" y="1385923"/>
            <a:ext cx="2962556" cy="19516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Q4. </a:t>
            </a:r>
            <a:r>
              <a:rPr lang="en-US" sz="1500" b="1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product categories have the highest return rates?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65760" y="34564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Insights: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3730752"/>
            <a:ext cx="84124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Fashion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the highest return rate (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6.66%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likely due to size and fit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 rates are similar across all categories (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5.70%–6.66%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showing consistent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overall return rate is around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6%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matching the expected rate in the synthetic dataset. </a:t>
            </a:r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endParaRPr lang="en-US" sz="1050" dirty="0"/>
          </a:p>
        </p:txBody>
      </p:sp>
      <p:pic>
        <p:nvPicPr>
          <p:cNvPr id="8" name="Image 0" descr="asse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828032"/>
            <a:ext cx="1417320" cy="2532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" y="48280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32E654-A4C7-4EEF-BA70-C02F9096D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801496"/>
            <a:ext cx="4069080" cy="22084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E2647D-8E79-4443-95FA-4B7FC6283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7161" y="1638932"/>
            <a:ext cx="3137679" cy="13709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Q5. </a:t>
            </a:r>
            <a:r>
              <a:rPr lang="en-US" sz="1500" b="1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payment methods have the highest failure rates?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65760" y="34564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Insights: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3730752"/>
            <a:ext cx="84124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the highest failure rate (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8.58%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mainly due to delivery refusals or customer unavailability.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Failure rates are similar across all payment methods (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8.04%–8.58%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with no major payment issue.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 Banking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the lowest failure rate (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8.04%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making it the most reliable payment method. 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 0" descr="asse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828032"/>
            <a:ext cx="1417320" cy="2532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" y="48280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4CEAAC-FE15-4460-ADE0-9E44DE664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5759" y="1755648"/>
            <a:ext cx="3505200" cy="10647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3DF4AF-2ABC-406E-8B5B-F31C237ADC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041" y="990600"/>
            <a:ext cx="4508060" cy="17825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Q6. </a:t>
            </a:r>
            <a:r>
              <a:rPr lang="en-US" sz="1500" b="1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the business get an on-demand monthly sales report?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09160" y="822960"/>
            <a:ext cx="1280160" cy="996694"/>
          </a:xfrm>
          <a:prstGeom prst="roundRect">
            <a:avLst>
              <a:gd name="adj" fmla="val 5714"/>
            </a:avLst>
          </a:prstGeom>
          <a:solidFill>
            <a:srgbClr val="F7F7F7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09160" y="89611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909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09160" y="13716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Orders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126480" y="822960"/>
            <a:ext cx="1280160" cy="960120"/>
          </a:xfrm>
          <a:prstGeom prst="roundRect">
            <a:avLst>
              <a:gd name="adj" fmla="val 5714"/>
            </a:avLst>
          </a:prstGeom>
          <a:solidFill>
            <a:srgbClr val="F7F7F7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89611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₹5.19 Cr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13716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543800" y="822960"/>
            <a:ext cx="1280160" cy="960120"/>
          </a:xfrm>
          <a:prstGeom prst="roundRect">
            <a:avLst>
              <a:gd name="adj" fmla="val 5714"/>
            </a:avLst>
          </a:prstGeom>
          <a:solidFill>
            <a:srgbClr val="F7F7F7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89611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43800" y="13716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Returns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34564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730752"/>
            <a:ext cx="8412480" cy="4389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050" dirty="0"/>
              <a:t>The Stored procedure provides a monthly summary(</a:t>
            </a:r>
            <a:r>
              <a:rPr lang="en-US" sz="1050" dirty="0" err="1"/>
              <a:t>orders,revenue</a:t>
            </a:r>
            <a:r>
              <a:rPr lang="en-US" sz="1050" dirty="0"/>
              <a:t>, and returns) with a single </a:t>
            </a:r>
            <a:r>
              <a:rPr lang="en-US" sz="1050" dirty="0" err="1"/>
              <a:t>call,eliminating</a:t>
            </a:r>
            <a:r>
              <a:rPr lang="en-US" sz="1050" dirty="0"/>
              <a:t> the need to write queries</a:t>
            </a:r>
          </a:p>
        </p:txBody>
      </p:sp>
      <p:pic>
        <p:nvPicPr>
          <p:cNvPr id="19" name="Image 0" descr="asse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828032"/>
            <a:ext cx="1417320" cy="25328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7160" y="48280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697BE7E-EBB1-4321-8D1B-25FF17291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679797"/>
            <a:ext cx="3870960" cy="270371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0757FD5-F107-4E73-A3DE-3C06DA119F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903221"/>
            <a:ext cx="4114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Challenges Faced / Key Learnings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69080" cy="3657600"/>
          </a:xfrm>
          <a:prstGeom prst="roundRect">
            <a:avLst>
              <a:gd name="adj" fmla="val 1750"/>
            </a:avLst>
          </a:prstGeom>
          <a:solidFill>
            <a:srgbClr val="FDECE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Challenges Faced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365760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</a:rPr>
              <a:t>Handled incomplete monthly data that effected revenue analysis.</a:t>
            </a:r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</a:rPr>
              <a:t>Designed a well-structured database with proper table relationships and constraints</a:t>
            </a:r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</a:rPr>
              <a:t>Defined practical business rules for customer segmentation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09160" y="960120"/>
            <a:ext cx="4069080" cy="3657600"/>
          </a:xfrm>
          <a:prstGeom prst="roundRect">
            <a:avLst>
              <a:gd name="adj" fmla="val 1750"/>
            </a:avLst>
          </a:prstGeom>
          <a:solidFill>
            <a:srgbClr val="E8F5EC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Learnings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08760"/>
            <a:ext cx="365760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</a:rPr>
              <a:t>Gained hands-on experience with window functions for trend and ranking </a:t>
            </a:r>
            <a:r>
              <a:rPr lang="en-US" sz="1000">
                <a:solidFill>
                  <a:srgbClr val="334155"/>
                </a:solidFill>
                <a:latin typeface="DM Sans" pitchFamily="34" charset="0"/>
                <a:ea typeface="DM Sans" pitchFamily="34" charset="-122"/>
              </a:rPr>
              <a:t>analysis.</a:t>
            </a:r>
            <a:endParaRPr lang="en-US" sz="1000" dirty="0">
              <a:solidFill>
                <a:srgbClr val="334155"/>
              </a:solidFill>
              <a:latin typeface="DM Sans" pitchFamily="34" charset="0"/>
              <a:ea typeface="DM Sans" pitchFamily="34" charset="-122"/>
            </a:endParaRPr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/>
              <a:t>Built simple and easy-to-understand customer segmentation using CASE statements</a:t>
            </a:r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/>
              <a:t>Improved query </a:t>
            </a:r>
            <a:r>
              <a:rPr lang="en-IN" sz="1000" dirty="0"/>
              <a:t>performance using indexes.</a:t>
            </a:r>
            <a:endParaRPr lang="en-US" sz="1000" dirty="0"/>
          </a:p>
        </p:txBody>
      </p:sp>
      <p:pic>
        <p:nvPicPr>
          <p:cNvPr id="9" name="Image 0" descr="asse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828032"/>
            <a:ext cx="1417320" cy="25328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" y="48280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 (Key Findings Overall)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069080" cy="16002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6128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Stable Revenue, No Growth Trend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held steady between ₹5.2–5.7 Cr/month with no sustained growth or decline across the ~2-year window.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4069080" cy="16002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16128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92040" y="16002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High-Value Churn Risk Identified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92040" y="196596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</a:t>
            </a:r>
            <a:r>
              <a:rPr lang="en-US" sz="900" dirty="0" err="1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diya</a:t>
            </a:r>
            <a:r>
              <a:rPr lang="en-US" sz="90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kale shows ₹12.80L in lifetime spend but 59 days of inactivity — the clearest win-back priority.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069080" cy="16002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4436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Fashion Leads Category Returns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 rates cluster tightly between 5.70%–6.66% across categories, with Fashion the highest at 6.66%.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2834640"/>
            <a:ext cx="4069080" cy="16002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94436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92040" y="33832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 Has the Highest Payment Failure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374904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Failure rates range narrowly from 8.04%–8.58% across methods, with COD the least reliable at checkout.</a:t>
            </a:r>
            <a:endParaRPr lang="en-US" sz="900" dirty="0"/>
          </a:p>
        </p:txBody>
      </p:sp>
      <p:pic>
        <p:nvPicPr>
          <p:cNvPr id="19" name="Image 0" descr="asse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828032"/>
            <a:ext cx="1417320" cy="25328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7160" y="48280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0" y="822960"/>
            <a:ext cx="1280160" cy="1280160"/>
          </a:xfrm>
          <a:prstGeom prst="ellipse">
            <a:avLst/>
          </a:prstGeom>
          <a:solidFill>
            <a:srgbClr val="D1272E"/>
          </a:solidFill>
          <a:ln/>
        </p:spPr>
      </p:sp>
      <p:sp>
        <p:nvSpPr>
          <p:cNvPr id="3" name="Text 1"/>
          <p:cNvSpPr/>
          <p:nvPr/>
        </p:nvSpPr>
        <p:spPr>
          <a:xfrm>
            <a:off x="3931920" y="8229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331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Q&amp;A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2880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0B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Discussion &amp; Clarifications</a:t>
            </a:r>
            <a:endParaRPr lang="en-US" sz="1300" dirty="0"/>
          </a:p>
        </p:txBody>
      </p:sp>
      <p:pic>
        <p:nvPicPr>
          <p:cNvPr id="6" name="Image 0" descr="asse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828032"/>
            <a:ext cx="1417320" cy="2532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" y="48280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0">
            <a:off x="-822960" y="4572000"/>
            <a:ext cx="411480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 rot="-1200000">
            <a:off x="-1005839" y="4777739"/>
            <a:ext cx="4114800" cy="914400"/>
          </a:xfrm>
          <a:prstGeom prst="rect">
            <a:avLst/>
          </a:prstGeom>
          <a:solidFill>
            <a:srgbClr val="D127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031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127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 •  E-commerce Sales Analytics System</a:t>
            </a:r>
            <a:endParaRPr lang="en-US" sz="1200" dirty="0"/>
          </a:p>
        </p:txBody>
      </p:sp>
      <p:pic>
        <p:nvPicPr>
          <p:cNvPr id="6" name="Image 0" descr="asse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434840"/>
            <a:ext cx="2377440" cy="4251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1172</Words>
  <Application>Microsoft Office PowerPoint</Application>
  <PresentationFormat>On-screen Show (16:9)</PresentationFormat>
  <Paragraphs>168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sakshith Yadav</cp:lastModifiedBy>
  <cp:revision>5</cp:revision>
  <dcterms:created xsi:type="dcterms:W3CDTF">2026-08-05T05:00:50Z</dcterms:created>
  <dcterms:modified xsi:type="dcterms:W3CDTF">2026-08-12T16:18:10Z</dcterms:modified>
</cp:coreProperties>
</file>